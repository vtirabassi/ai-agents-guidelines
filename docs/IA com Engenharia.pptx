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7" r:id="rId7"/>
    <p:sldId id="261" r:id="rId8"/>
    <p:sldId id="262" r:id="rId9"/>
    <p:sldId id="263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C8352-B01F-4206-B68A-DDED3E8BB8F4}" v="22" dt="2026-02-12T00:32:15.397"/>
    <p1510:client id="{EBA86A29-A721-4319-AF0B-81A9C5AF3DFA}" v="527" dt="2026-02-10T11:33:56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code.ai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tirabassi/ai-agents-guidelines" TargetMode="External"/><Relationship Id="rId7" Type="http://schemas.openxmlformats.org/officeDocument/2006/relationships/hyperlink" Target="https://www.youtube.com/watch?v=omkEi4GTCj8" TargetMode="External"/><Relationship Id="rId2" Type="http://schemas.openxmlformats.org/officeDocument/2006/relationships/hyperlink" Target="https://opencode.ai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sqp0rtjKCrw" TargetMode="External"/><Relationship Id="rId5" Type="http://schemas.openxmlformats.org/officeDocument/2006/relationships/hyperlink" Target="https://www.youtube.com/watch?v=e9j2iEwJru0" TargetMode="External"/><Relationship Id="rId4" Type="http://schemas.openxmlformats.org/officeDocument/2006/relationships/hyperlink" Target="https://blog.devgenius.io/writing-opencode-agent-skills-a-practical-guide-with-examples-870ff24eec6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6000"/>
          </a:xfrm>
        </p:spPr>
        <p:txBody>
          <a:bodyPr/>
          <a:lstStyle/>
          <a:p>
            <a:r>
              <a:rPr lang="de-DE" b="1" err="1"/>
              <a:t>Por</a:t>
            </a:r>
            <a:r>
              <a:rPr lang="de-DE" b="1"/>
              <a:t> </a:t>
            </a:r>
            <a:r>
              <a:rPr lang="de-DE" b="1" err="1"/>
              <a:t>que</a:t>
            </a:r>
            <a:r>
              <a:rPr lang="de-DE" b="1"/>
              <a:t> </a:t>
            </a:r>
            <a:r>
              <a:rPr lang="de-DE" b="1" err="1"/>
              <a:t>falar</a:t>
            </a:r>
            <a:r>
              <a:rPr lang="de-DE" b="1"/>
              <a:t> de IA </a:t>
            </a:r>
            <a:r>
              <a:rPr lang="de-DE" b="1" err="1"/>
              <a:t>agora</a:t>
            </a:r>
            <a:r>
              <a:rPr lang="de-DE" b="1"/>
              <a:t>?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850924"/>
            <a:ext cx="9144000" cy="27933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1800" dirty="0">
                <a:ea typeface="+mn-lt"/>
                <a:cs typeface="+mn-lt"/>
              </a:rPr>
              <a:t>IA </a:t>
            </a:r>
            <a:r>
              <a:rPr lang="de-DE" sz="1800" dirty="0" err="1">
                <a:ea typeface="+mn-lt"/>
                <a:cs typeface="+mn-lt"/>
              </a:rPr>
              <a:t>já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está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sendo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usada</a:t>
            </a:r>
            <a:r>
              <a:rPr lang="de-DE" sz="1800" dirty="0">
                <a:ea typeface="+mn-lt"/>
                <a:cs typeface="+mn-lt"/>
              </a:rPr>
              <a:t> (</a:t>
            </a:r>
            <a:r>
              <a:rPr lang="de-DE" sz="1800" b="1" dirty="0" err="1">
                <a:ea typeface="+mn-lt"/>
                <a:cs typeface="+mn-lt"/>
              </a:rPr>
              <a:t>com</a:t>
            </a:r>
            <a:r>
              <a:rPr lang="de-DE" sz="1800" b="1" dirty="0">
                <a:ea typeface="+mn-lt"/>
                <a:cs typeface="+mn-lt"/>
              </a:rPr>
              <a:t> </a:t>
            </a:r>
            <a:r>
              <a:rPr lang="de-DE" sz="1800" b="1" dirty="0" err="1">
                <a:ea typeface="+mn-lt"/>
                <a:cs typeface="+mn-lt"/>
              </a:rPr>
              <a:t>ou</a:t>
            </a:r>
            <a:r>
              <a:rPr lang="de-DE" sz="1800" b="1" dirty="0">
                <a:ea typeface="+mn-lt"/>
                <a:cs typeface="+mn-lt"/>
              </a:rPr>
              <a:t> </a:t>
            </a:r>
            <a:r>
              <a:rPr lang="de-DE" sz="1800" b="1" dirty="0" err="1">
                <a:ea typeface="+mn-lt"/>
                <a:cs typeface="+mn-lt"/>
              </a:rPr>
              <a:t>sem</a:t>
            </a:r>
            <a:r>
              <a:rPr lang="de-DE" sz="1800" b="1" dirty="0">
                <a:ea typeface="+mn-lt"/>
                <a:cs typeface="+mn-lt"/>
              </a:rPr>
              <a:t> </a:t>
            </a:r>
            <a:r>
              <a:rPr lang="de-DE" sz="1800" b="1" dirty="0" err="1">
                <a:ea typeface="+mn-lt"/>
                <a:cs typeface="+mn-lt"/>
              </a:rPr>
              <a:t>padrão</a:t>
            </a:r>
            <a:r>
              <a:rPr lang="de-DE" sz="1800" b="1" dirty="0">
                <a:ea typeface="+mn-lt"/>
                <a:cs typeface="+mn-lt"/>
              </a:rPr>
              <a:t>)</a:t>
            </a:r>
            <a:endParaRPr lang="pt-BR" sz="1800" b="1" dirty="0">
              <a:ea typeface="+mn-lt"/>
              <a:cs typeface="+mn-lt"/>
            </a:endParaRPr>
          </a:p>
          <a:p>
            <a:r>
              <a:rPr lang="de-DE" sz="1800" dirty="0">
                <a:ea typeface="+mn-lt"/>
                <a:cs typeface="+mn-lt"/>
              </a:rPr>
              <a:t>Sem </a:t>
            </a:r>
            <a:r>
              <a:rPr lang="de-DE" sz="1800" dirty="0" err="1">
                <a:ea typeface="+mn-lt"/>
                <a:cs typeface="+mn-lt"/>
              </a:rPr>
              <a:t>processo</a:t>
            </a:r>
            <a:r>
              <a:rPr lang="de-DE" sz="1800" dirty="0">
                <a:ea typeface="+mn-lt"/>
                <a:cs typeface="+mn-lt"/>
              </a:rPr>
              <a:t>, </a:t>
            </a:r>
            <a:r>
              <a:rPr lang="de-DE" sz="1800" b="1" dirty="0">
                <a:ea typeface="+mn-lt"/>
                <a:cs typeface="+mn-lt"/>
              </a:rPr>
              <a:t>o </a:t>
            </a:r>
            <a:r>
              <a:rPr lang="de-DE" sz="1800" b="1" dirty="0" err="1">
                <a:ea typeface="+mn-lt"/>
                <a:cs typeface="+mn-lt"/>
              </a:rPr>
              <a:t>risco</a:t>
            </a:r>
            <a:r>
              <a:rPr lang="de-DE" sz="1800" b="1" dirty="0">
                <a:ea typeface="+mn-lt"/>
                <a:cs typeface="+mn-lt"/>
              </a:rPr>
              <a:t> </a:t>
            </a:r>
            <a:r>
              <a:rPr lang="de-DE" sz="1800" b="1" dirty="0" err="1">
                <a:ea typeface="+mn-lt"/>
                <a:cs typeface="+mn-lt"/>
              </a:rPr>
              <a:t>cresce</a:t>
            </a:r>
            <a:endParaRPr lang="de-DE" sz="1800" dirty="0"/>
          </a:p>
          <a:p>
            <a:r>
              <a:rPr lang="de-DE" sz="1800" dirty="0" err="1">
                <a:ea typeface="+mn-lt"/>
                <a:cs typeface="+mn-lt"/>
              </a:rPr>
              <a:t>Com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processo</a:t>
            </a:r>
            <a:r>
              <a:rPr lang="de-DE" sz="1800" dirty="0">
                <a:ea typeface="+mn-lt"/>
                <a:cs typeface="+mn-lt"/>
              </a:rPr>
              <a:t>, </a:t>
            </a:r>
            <a:r>
              <a:rPr lang="de-DE" sz="1800" b="1" dirty="0">
                <a:ea typeface="+mn-lt"/>
                <a:cs typeface="+mn-lt"/>
              </a:rPr>
              <a:t>o </a:t>
            </a:r>
            <a:r>
              <a:rPr lang="de-DE" sz="1800" b="1" dirty="0" err="1">
                <a:ea typeface="+mn-lt"/>
                <a:cs typeface="+mn-lt"/>
              </a:rPr>
              <a:t>ganho</a:t>
            </a:r>
            <a:r>
              <a:rPr lang="de-DE" sz="1800" b="1" dirty="0">
                <a:ea typeface="+mn-lt"/>
                <a:cs typeface="+mn-lt"/>
              </a:rPr>
              <a:t> </a:t>
            </a:r>
            <a:r>
              <a:rPr lang="de-DE" sz="1800" b="1" dirty="0" err="1">
                <a:ea typeface="+mn-lt"/>
                <a:cs typeface="+mn-lt"/>
              </a:rPr>
              <a:t>escala</a:t>
            </a:r>
            <a:endParaRPr lang="de-DE" sz="1800" b="1" dirty="0">
              <a:ea typeface="+mn-lt"/>
              <a:cs typeface="+mn-lt"/>
            </a:endParaRPr>
          </a:p>
          <a:p>
            <a:br>
              <a:rPr lang="en-US" dirty="0"/>
            </a:br>
            <a:endParaRPr lang="en-US" sz="1800"/>
          </a:p>
          <a:p>
            <a:r>
              <a:rPr lang="de-DE" sz="1800" dirty="0">
                <a:ea typeface="+mn-lt"/>
                <a:cs typeface="+mn-lt"/>
              </a:rPr>
              <a:t>👉 O </a:t>
            </a:r>
            <a:r>
              <a:rPr lang="de-DE" sz="1800" dirty="0" err="1">
                <a:ea typeface="+mn-lt"/>
                <a:cs typeface="+mn-lt"/>
              </a:rPr>
              <a:t>ponto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não</a:t>
            </a:r>
            <a:r>
              <a:rPr lang="de-DE" sz="1800" dirty="0">
                <a:ea typeface="+mn-lt"/>
                <a:cs typeface="+mn-lt"/>
              </a:rPr>
              <a:t> é </a:t>
            </a:r>
            <a:r>
              <a:rPr lang="de-DE" sz="1800" b="1" dirty="0">
                <a:ea typeface="+mn-lt"/>
                <a:cs typeface="+mn-lt"/>
              </a:rPr>
              <a:t>se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vamos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dirty="0" err="1">
                <a:ea typeface="+mn-lt"/>
                <a:cs typeface="+mn-lt"/>
              </a:rPr>
              <a:t>usar</a:t>
            </a:r>
            <a:r>
              <a:rPr lang="de-DE" sz="1800" dirty="0">
                <a:ea typeface="+mn-lt"/>
                <a:cs typeface="+mn-lt"/>
              </a:rPr>
              <a:t> IA.</a:t>
            </a:r>
            <a:endParaRPr lang="de-DE" sz="1800"/>
          </a:p>
          <a:p>
            <a:r>
              <a:rPr lang="de-DE" sz="1800" dirty="0">
                <a:ea typeface="+mn-lt"/>
                <a:cs typeface="+mn-lt"/>
              </a:rPr>
              <a:t>👉 É </a:t>
            </a:r>
            <a:r>
              <a:rPr lang="de-DE" sz="1800" b="1" err="1">
                <a:ea typeface="+mn-lt"/>
                <a:cs typeface="+mn-lt"/>
              </a:rPr>
              <a:t>como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vamos</a:t>
            </a:r>
            <a:r>
              <a:rPr lang="de-DE" sz="1800" dirty="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usar</a:t>
            </a:r>
            <a:r>
              <a:rPr lang="de-DE" sz="1800" dirty="0">
                <a:ea typeface="+mn-lt"/>
                <a:cs typeface="+mn-lt"/>
              </a:rPr>
              <a:t>.</a:t>
            </a:r>
            <a:endParaRPr lang="de-DE" sz="1800" dirty="0"/>
          </a:p>
          <a:p>
            <a:pPr marL="285750" indent="-285750">
              <a:buFont typeface="Arial"/>
              <a:buChar char="•"/>
            </a:pPr>
            <a:endParaRPr lang="de-DE" sz="1400" dirty="0"/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4F3F9-68F2-A695-818C-AF7143DA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+mj-lt"/>
                <a:cs typeface="+mj-lt"/>
              </a:rPr>
              <a:t>IA como amplificador, não substituto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B046E-0E59-A60F-08A0-AF2B0770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dirty="0">
                <a:ea typeface="+mn-lt"/>
                <a:cs typeface="+mn-lt"/>
              </a:rPr>
              <a:t>IA </a:t>
            </a:r>
            <a:r>
              <a:rPr lang="pt-BR" sz="1800" b="1" dirty="0">
                <a:ea typeface="+mn-lt"/>
                <a:cs typeface="+mn-lt"/>
              </a:rPr>
              <a:t>não entende o negócio</a:t>
            </a:r>
          </a:p>
          <a:p>
            <a:r>
              <a:rPr lang="pt-BR" sz="1800" dirty="0">
                <a:ea typeface="+mn-lt"/>
                <a:cs typeface="+mn-lt"/>
              </a:rPr>
              <a:t>IA </a:t>
            </a:r>
            <a:r>
              <a:rPr lang="pt-BR" sz="1800" b="1" dirty="0">
                <a:ea typeface="+mn-lt"/>
                <a:cs typeface="+mn-lt"/>
              </a:rPr>
              <a:t>não assume responsabilidade</a:t>
            </a:r>
          </a:p>
          <a:p>
            <a:r>
              <a:rPr lang="pt-BR" sz="1800" dirty="0">
                <a:ea typeface="+mn-lt"/>
                <a:cs typeface="+mn-lt"/>
              </a:rPr>
              <a:t>IA </a:t>
            </a:r>
            <a:r>
              <a:rPr lang="pt-BR" sz="1800" b="1" dirty="0">
                <a:ea typeface="+mn-lt"/>
                <a:cs typeface="+mn-lt"/>
              </a:rPr>
              <a:t>não decide</a:t>
            </a:r>
            <a:br>
              <a:rPr lang="en-US" sz="1800" dirty="0"/>
            </a:br>
            <a:endParaRPr lang="en-US" sz="1800"/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👉 </a:t>
            </a:r>
            <a:r>
              <a:rPr lang="pt-BR" sz="1800" b="1" dirty="0">
                <a:ea typeface="+mn-lt"/>
                <a:cs typeface="+mn-lt"/>
              </a:rPr>
              <a:t>O julgamento técnico continua sendo humano.</a:t>
            </a:r>
            <a:endParaRPr lang="pt-BR" sz="1800"/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👉 </a:t>
            </a:r>
            <a:r>
              <a:rPr lang="pt-BR" sz="1800" b="1" dirty="0">
                <a:ea typeface="+mn-lt"/>
                <a:cs typeface="+mn-lt"/>
              </a:rPr>
              <a:t>A IA apenas amplia a capacidade do engenheiro.</a:t>
            </a:r>
          </a:p>
          <a:p>
            <a:endParaRPr lang="pt-BR" dirty="0"/>
          </a:p>
          <a:p>
            <a:endParaRPr lang="pt-BR">
              <a:ea typeface="+mn-lt"/>
              <a:cs typeface="+mn-lt"/>
            </a:endParaRP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23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71C58-E2A5-107D-5076-6D01C508A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+mj-lt"/>
                <a:cs typeface="+mj-lt"/>
              </a:rPr>
              <a:t>Casos reais de uso em engenharia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EC802-33E9-9EF5-882F-C62E845E8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b="1" err="1">
                <a:ea typeface="+mn-lt"/>
                <a:cs typeface="+mn-lt"/>
              </a:rPr>
              <a:t>Code</a:t>
            </a:r>
            <a:r>
              <a:rPr lang="pt-BR" sz="1800" b="1" dirty="0">
                <a:ea typeface="+mn-lt"/>
                <a:cs typeface="+mn-lt"/>
              </a:rPr>
              <a:t> Review</a:t>
            </a:r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Análise de PR, padrões, riscos e sugestões</a:t>
            </a:r>
            <a:br>
              <a:rPr lang="pt-BR" sz="1800" dirty="0">
                <a:ea typeface="+mn-lt"/>
                <a:cs typeface="+mn-lt"/>
              </a:rPr>
            </a:br>
            <a:endParaRPr lang="pt-BR" sz="1800" dirty="0"/>
          </a:p>
          <a:p>
            <a:r>
              <a:rPr lang="pt-BR" sz="1800" b="1" dirty="0">
                <a:ea typeface="+mn-lt"/>
                <a:cs typeface="+mn-lt"/>
              </a:rPr>
              <a:t>Entendimento de código legado e Escrita técnica</a:t>
            </a:r>
            <a:endParaRPr lang="pt-BR" dirty="0"/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README, ADR, documentação e guias de </a:t>
            </a:r>
            <a:r>
              <a:rPr lang="pt-BR" sz="1800" dirty="0" err="1">
                <a:ea typeface="+mn-lt"/>
                <a:cs typeface="+mn-lt"/>
              </a:rPr>
              <a:t>onboarding</a:t>
            </a:r>
            <a:br>
              <a:rPr lang="pt-BR" sz="1800" dirty="0">
                <a:ea typeface="+mn-lt"/>
                <a:cs typeface="+mn-lt"/>
              </a:rPr>
            </a:br>
            <a:endParaRPr lang="pt-BR" sz="1800" dirty="0"/>
          </a:p>
          <a:p>
            <a:r>
              <a:rPr lang="pt-BR" sz="1800" b="1" dirty="0" err="1">
                <a:ea typeface="+mn-lt"/>
                <a:cs typeface="+mn-lt"/>
              </a:rPr>
              <a:t>Debugging</a:t>
            </a:r>
            <a:r>
              <a:rPr lang="pt-BR" sz="1800" b="1" dirty="0">
                <a:ea typeface="+mn-lt"/>
                <a:cs typeface="+mn-lt"/>
              </a:rPr>
              <a:t> e Desenvolvimento</a:t>
            </a:r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Apoio na investigação de erros e comportamentos inesperados</a:t>
            </a:r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Apoio no desenvolvimento de software, testes</a:t>
            </a:r>
            <a:br>
              <a:rPr lang="pt-BR" sz="1800" dirty="0">
                <a:ea typeface="+mn-lt"/>
                <a:cs typeface="+mn-lt"/>
              </a:rPr>
            </a:br>
            <a:endParaRPr lang="pt-BR" sz="1800">
              <a:ea typeface="+mn-lt"/>
              <a:cs typeface="+mn-lt"/>
            </a:endParaRPr>
          </a:p>
          <a:p>
            <a:r>
              <a:rPr lang="pt-BR" sz="1800" b="1" dirty="0">
                <a:ea typeface="+mn-lt"/>
                <a:cs typeface="+mn-lt"/>
              </a:rPr>
              <a:t>Comunicação</a:t>
            </a:r>
            <a:endParaRPr lang="pt-BR" sz="1800" dirty="0"/>
          </a:p>
          <a:p>
            <a:pPr marL="0" indent="0">
              <a:buNone/>
            </a:pPr>
            <a:r>
              <a:rPr lang="pt-BR" sz="1800" dirty="0">
                <a:ea typeface="+mn-lt"/>
                <a:cs typeface="+mn-lt"/>
              </a:rPr>
              <a:t>Mensagens claras, alinhamentos e respostas objetivas</a:t>
            </a:r>
            <a:endParaRPr lang="pt-BR" sz="1800" dirty="0"/>
          </a:p>
          <a:p>
            <a:endParaRPr lang="pt-BR" dirty="0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4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2394A-CAF7-0480-84B3-39EAA661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Por que </a:t>
            </a:r>
            <a:r>
              <a:rPr lang="pt-BR" b="1" err="1"/>
              <a:t>OpenCode</a:t>
            </a:r>
            <a:r>
              <a:rPr lang="pt-BR" b="1"/>
              <a:t>?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FEFC3D-DB33-8BF4-3ADE-CFD9DF45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1800" b="1" dirty="0">
                <a:ea typeface="+mn-lt"/>
                <a:cs typeface="+mn-lt"/>
              </a:rPr>
              <a:t>Trabalha diretamente com o código (</a:t>
            </a:r>
            <a:r>
              <a:rPr lang="pt-BR" sz="1800" b="1" err="1">
                <a:ea typeface="+mn-lt"/>
                <a:cs typeface="+mn-lt"/>
              </a:rPr>
              <a:t>repo</a:t>
            </a:r>
            <a:r>
              <a:rPr lang="pt-BR" sz="1800" b="1" dirty="0">
                <a:ea typeface="+mn-lt"/>
                <a:cs typeface="+mn-lt"/>
              </a:rPr>
              <a:t>) local</a:t>
            </a:r>
          </a:p>
          <a:p>
            <a:r>
              <a:rPr lang="pt-BR" sz="1800" b="1" dirty="0">
                <a:ea typeface="+mn-lt"/>
                <a:cs typeface="+mn-lt"/>
              </a:rPr>
              <a:t>Entende o repositório</a:t>
            </a:r>
            <a:r>
              <a:rPr lang="pt-BR" sz="1800" dirty="0">
                <a:ea typeface="+mn-lt"/>
                <a:cs typeface="+mn-lt"/>
              </a:rPr>
              <a:t>: arquivos, histórico e </a:t>
            </a:r>
            <a:r>
              <a:rPr lang="pt-BR" sz="1800" err="1">
                <a:ea typeface="+mn-lt"/>
                <a:cs typeface="+mn-lt"/>
              </a:rPr>
              <a:t>diff</a:t>
            </a:r>
            <a:endParaRPr lang="pt-BR" sz="1800">
              <a:ea typeface="+mn-lt"/>
              <a:cs typeface="+mn-lt"/>
            </a:endParaRPr>
          </a:p>
          <a:p>
            <a:r>
              <a:rPr lang="pt-BR" sz="1800" b="1" dirty="0">
                <a:ea typeface="+mn-lt"/>
                <a:cs typeface="+mn-lt"/>
              </a:rPr>
              <a:t>Permite criar agentes reutilizáveis</a:t>
            </a:r>
            <a:r>
              <a:rPr lang="pt-BR" sz="1800" dirty="0">
                <a:ea typeface="+mn-lt"/>
                <a:cs typeface="+mn-lt"/>
              </a:rPr>
              <a:t>, com propósito claro</a:t>
            </a:r>
            <a:endParaRPr lang="pt-BR" sz="1800" dirty="0"/>
          </a:p>
          <a:p>
            <a:r>
              <a:rPr lang="pt-BR" sz="1800" b="1" dirty="0"/>
              <a:t>Facil configuração</a:t>
            </a:r>
            <a:r>
              <a:rPr lang="pt-BR" sz="1800" dirty="0"/>
              <a:t> no ambiente XP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/>
          </a:p>
        </p:txBody>
      </p:sp>
      <p:pic>
        <p:nvPicPr>
          <p:cNvPr id="4" name="Imagem 3" descr="OpenCode | Download">
            <a:extLst>
              <a:ext uri="{FF2B5EF4-FFF2-40B4-BE49-F238E27FC236}">
                <a16:creationId xmlns:a16="http://schemas.microsoft.com/office/drawing/2014/main" id="{BD087E90-1DE5-744A-CECC-292AFC68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459" y="4001109"/>
            <a:ext cx="2743200" cy="1545193"/>
          </a:xfrm>
          <a:prstGeom prst="rect">
            <a:avLst/>
          </a:prstGeom>
        </p:spPr>
      </p:pic>
      <p:pic>
        <p:nvPicPr>
          <p:cNvPr id="5" name="Imagem 4" descr="OpenCode: Alternativa Open Source ao Claude para Código">
            <a:extLst>
              <a:ext uri="{FF2B5EF4-FFF2-40B4-BE49-F238E27FC236}">
                <a16:creationId xmlns:a16="http://schemas.microsoft.com/office/drawing/2014/main" id="{F2DE9111-1FBB-6DE4-74ED-ADF79307C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47" y="3139140"/>
            <a:ext cx="4635247" cy="327338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C72B92D-5F22-EC7E-644D-718642D5FC63}"/>
              </a:ext>
            </a:extLst>
          </p:cNvPr>
          <p:cNvSpPr txBox="1"/>
          <p:nvPr/>
        </p:nvSpPr>
        <p:spPr>
          <a:xfrm>
            <a:off x="1787769" y="5627077"/>
            <a:ext cx="228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>
                <a:ea typeface="+mn-lt"/>
                <a:cs typeface="+mn-lt"/>
                <a:hlinkClick r:id="rId4"/>
              </a:rPr>
              <a:t>https://opencode.ai/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20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BDA5-137F-795E-4B87-E892D47D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C9092-6993-9FDF-106E-FEEFE604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CONCEITOS-CHAVE - </a:t>
            </a:r>
            <a:r>
              <a:rPr lang="pt-BR" err="1"/>
              <a:t>Rules</a:t>
            </a:r>
            <a:r>
              <a:rPr lang="pt-BR"/>
              <a:t> (Regras)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4629C1-0DD9-55E8-0F58-59614CA4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pt-BR" sz="1400" b="1" dirty="0">
                <a:ea typeface="+mn-lt"/>
                <a:cs typeface="+mn-lt"/>
              </a:rPr>
              <a:t>O que são?</a:t>
            </a:r>
            <a:endParaRPr lang="pt-BR" sz="1400" dirty="0"/>
          </a:p>
          <a:p>
            <a:pPr>
              <a:buNone/>
            </a:pPr>
            <a:r>
              <a:rPr lang="pt-BR" sz="1400" dirty="0" err="1">
                <a:ea typeface="+mn-lt"/>
                <a:cs typeface="+mn-lt"/>
              </a:rPr>
              <a:t>Rules</a:t>
            </a:r>
            <a:r>
              <a:rPr lang="pt-BR" sz="1400" dirty="0">
                <a:ea typeface="+mn-lt"/>
                <a:cs typeface="+mn-lt"/>
              </a:rPr>
              <a:t> são </a:t>
            </a:r>
            <a:r>
              <a:rPr lang="pt-BR" sz="1400" b="1" dirty="0">
                <a:ea typeface="+mn-lt"/>
                <a:cs typeface="+mn-lt"/>
              </a:rPr>
              <a:t>diretrizes declarativas</a:t>
            </a:r>
            <a:r>
              <a:rPr lang="pt-BR" sz="1400" dirty="0">
                <a:ea typeface="+mn-lt"/>
                <a:cs typeface="+mn-lt"/>
              </a:rPr>
              <a:t> que definem </a:t>
            </a:r>
            <a:r>
              <a:rPr lang="pt-BR" sz="1400" b="1" dirty="0">
                <a:ea typeface="+mn-lt"/>
                <a:cs typeface="+mn-lt"/>
              </a:rPr>
              <a:t>como o agente se comporta</a:t>
            </a:r>
            <a:r>
              <a:rPr lang="pt-BR" sz="1400" dirty="0">
                <a:ea typeface="+mn-lt"/>
                <a:cs typeface="+mn-lt"/>
              </a:rPr>
              <a:t>, seus </a:t>
            </a:r>
            <a:r>
              <a:rPr lang="pt-BR" sz="1400" b="1" dirty="0">
                <a:ea typeface="+mn-lt"/>
                <a:cs typeface="+mn-lt"/>
              </a:rPr>
              <a:t>limites</a:t>
            </a:r>
            <a:r>
              <a:rPr lang="pt-BR" sz="1400" dirty="0">
                <a:ea typeface="+mn-lt"/>
                <a:cs typeface="+mn-lt"/>
              </a:rPr>
              <a:t> e </a:t>
            </a:r>
            <a:r>
              <a:rPr lang="pt-BR" sz="1400" b="1" dirty="0">
                <a:ea typeface="+mn-lt"/>
                <a:cs typeface="+mn-lt"/>
              </a:rPr>
              <a:t>prioridades, e estabelecem </a:t>
            </a:r>
            <a:r>
              <a:rPr lang="pt-BR" sz="1400" dirty="0">
                <a:ea typeface="+mn-lt"/>
                <a:cs typeface="+mn-lt"/>
              </a:rPr>
              <a:t>prioridades estilo de resposta</a:t>
            </a:r>
            <a:endParaRPr lang="pt-BR" dirty="0"/>
          </a:p>
          <a:p>
            <a:pPr>
              <a:buNone/>
            </a:pPr>
            <a:endParaRPr lang="pt-BR" sz="1400" dirty="0"/>
          </a:p>
          <a:p>
            <a:pPr marL="0" indent="0">
              <a:buNone/>
            </a:pPr>
            <a:r>
              <a:rPr lang="pt-BR" sz="1400" dirty="0">
                <a:ea typeface="+mn-lt"/>
                <a:cs typeface="+mn-lt"/>
              </a:rPr>
              <a:t>Tipos comuns de </a:t>
            </a:r>
            <a:r>
              <a:rPr lang="pt-BR" sz="1400" err="1">
                <a:ea typeface="+mn-lt"/>
                <a:cs typeface="+mn-lt"/>
              </a:rPr>
              <a:t>rules</a:t>
            </a:r>
            <a:endParaRPr lang="pt-BR" sz="1400" dirty="0">
              <a:ea typeface="+mn-lt"/>
              <a:cs typeface="+mn-lt"/>
            </a:endParaRPr>
          </a:p>
          <a:p>
            <a:r>
              <a:rPr lang="pt-BR" sz="1400" b="1" err="1">
                <a:ea typeface="+mn-lt"/>
                <a:cs typeface="+mn-lt"/>
              </a:rPr>
              <a:t>Safety</a:t>
            </a:r>
            <a:r>
              <a:rPr lang="pt-BR" sz="1400" b="1" dirty="0">
                <a:ea typeface="+mn-lt"/>
                <a:cs typeface="+mn-lt"/>
              </a:rPr>
              <a:t>: </a:t>
            </a:r>
            <a:r>
              <a:rPr lang="pt-BR" sz="1400" dirty="0">
                <a:ea typeface="+mn-lt"/>
                <a:cs typeface="+mn-lt"/>
              </a:rPr>
              <a:t>Bloqueiam ações perigosas ou indevidas</a:t>
            </a:r>
            <a:endParaRPr lang="pt-BR" sz="1400" dirty="0"/>
          </a:p>
          <a:p>
            <a:r>
              <a:rPr lang="pt-BR" sz="1400" b="1" err="1">
                <a:ea typeface="+mn-lt"/>
                <a:cs typeface="+mn-lt"/>
              </a:rPr>
              <a:t>Policy</a:t>
            </a:r>
            <a:r>
              <a:rPr lang="pt-BR" sz="1400" b="1" dirty="0">
                <a:ea typeface="+mn-lt"/>
                <a:cs typeface="+mn-lt"/>
              </a:rPr>
              <a:t> / Compliance: </a:t>
            </a:r>
            <a:r>
              <a:rPr lang="pt-BR" sz="1400" dirty="0">
                <a:ea typeface="+mn-lt"/>
                <a:cs typeface="+mn-lt"/>
              </a:rPr>
              <a:t>Exigem consentimento, logs, retenção, auditoria</a:t>
            </a:r>
            <a:endParaRPr lang="pt-BR" sz="1400" dirty="0"/>
          </a:p>
          <a:p>
            <a:r>
              <a:rPr lang="pt-BR" sz="1400" b="1" dirty="0">
                <a:ea typeface="+mn-lt"/>
                <a:cs typeface="+mn-lt"/>
              </a:rPr>
              <a:t>UX / </a:t>
            </a:r>
            <a:r>
              <a:rPr lang="pt-BR" sz="1400" b="1" err="1">
                <a:ea typeface="+mn-lt"/>
                <a:cs typeface="+mn-lt"/>
              </a:rPr>
              <a:t>Tone</a:t>
            </a:r>
            <a:r>
              <a:rPr lang="pt-BR" sz="1400" b="1" dirty="0">
                <a:ea typeface="+mn-lt"/>
                <a:cs typeface="+mn-lt"/>
              </a:rPr>
              <a:t>: </a:t>
            </a:r>
            <a:r>
              <a:rPr lang="pt-BR" sz="1400" dirty="0">
                <a:ea typeface="+mn-lt"/>
                <a:cs typeface="+mn-lt"/>
              </a:rPr>
              <a:t>Idioma, nível de detalhe, estilo de comunicação</a:t>
            </a:r>
            <a:endParaRPr lang="pt-BR" sz="1400" dirty="0"/>
          </a:p>
          <a:p>
            <a:r>
              <a:rPr lang="pt-BR" sz="1400" b="1" err="1">
                <a:ea typeface="+mn-lt"/>
                <a:cs typeface="+mn-lt"/>
              </a:rPr>
              <a:t>Tooling</a:t>
            </a:r>
            <a:r>
              <a:rPr lang="pt-BR" sz="1400" b="1" dirty="0">
                <a:ea typeface="+mn-lt"/>
                <a:cs typeface="+mn-lt"/>
              </a:rPr>
              <a:t> / </a:t>
            </a:r>
            <a:r>
              <a:rPr lang="pt-BR" sz="1400" b="1" err="1">
                <a:ea typeface="+mn-lt"/>
                <a:cs typeface="+mn-lt"/>
              </a:rPr>
              <a:t>Operational</a:t>
            </a:r>
            <a:r>
              <a:rPr lang="pt-BR" sz="1400" b="1" dirty="0">
                <a:ea typeface="+mn-lt"/>
                <a:cs typeface="+mn-lt"/>
              </a:rPr>
              <a:t>: </a:t>
            </a:r>
            <a:r>
              <a:rPr lang="pt-BR" sz="1400" dirty="0">
                <a:ea typeface="+mn-lt"/>
                <a:cs typeface="+mn-lt"/>
              </a:rPr>
              <a:t>Quais ferramentas o agente pode (ou não) usar</a:t>
            </a:r>
          </a:p>
          <a:p>
            <a:r>
              <a:rPr lang="pt-BR" sz="1400" b="1" dirty="0">
                <a:ea typeface="+mn-lt"/>
                <a:cs typeface="+mn-lt"/>
              </a:rPr>
              <a:t>Data: </a:t>
            </a:r>
            <a:r>
              <a:rPr lang="pt-BR" sz="1400" dirty="0">
                <a:ea typeface="+mn-lt"/>
                <a:cs typeface="+mn-lt"/>
              </a:rPr>
              <a:t>Restringem acesso e uso de dados sensíveis</a:t>
            </a:r>
          </a:p>
          <a:p>
            <a:endParaRPr lang="pt-BR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sz="1400" dirty="0"/>
              <a:t>👉 </a:t>
            </a:r>
            <a:r>
              <a:rPr lang="pt-BR" sz="1400" dirty="0">
                <a:solidFill>
                  <a:srgbClr val="0E0E0E"/>
                </a:solidFill>
              </a:rPr>
              <a:t>Na prática, </a:t>
            </a:r>
            <a:r>
              <a:rPr lang="pt-BR" sz="1400" err="1">
                <a:solidFill>
                  <a:srgbClr val="0E0E0E"/>
                </a:solidFill>
                <a:ea typeface="+mn-lt"/>
                <a:cs typeface="+mn-lt"/>
              </a:rPr>
              <a:t>Rules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 definem os </a:t>
            </a:r>
            <a:r>
              <a:rPr lang="pt-BR" sz="1400" b="1" dirty="0">
                <a:solidFill>
                  <a:srgbClr val="0E0E0E"/>
                </a:solidFill>
                <a:ea typeface="+mn-lt"/>
                <a:cs typeface="+mn-lt"/>
              </a:rPr>
              <a:t>limites operacionais do agente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.</a:t>
            </a:r>
            <a:endParaRPr lang="pt-BR" sz="1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rgbClr val="0E0E0E"/>
                </a:solidFill>
              </a:rPr>
              <a:t> </a:t>
            </a:r>
            <a:r>
              <a:rPr lang="pt-BR" sz="1400" dirty="0">
                <a:ea typeface="+mn-lt"/>
                <a:cs typeface="+mn-lt"/>
              </a:rPr>
              <a:t>"</a:t>
            </a:r>
            <a:r>
              <a:rPr lang="pt-BR" sz="1400" dirty="0" err="1">
                <a:ea typeface="+mn-lt"/>
                <a:cs typeface="+mn-lt"/>
              </a:rPr>
              <a:t>Rules</a:t>
            </a:r>
            <a:r>
              <a:rPr lang="pt-BR" sz="1400" dirty="0">
                <a:ea typeface="+mn-lt"/>
                <a:cs typeface="+mn-lt"/>
              </a:rPr>
              <a:t> são para agentes o que políticas de segurança e </a:t>
            </a:r>
            <a:r>
              <a:rPr lang="pt-BR" sz="1400" dirty="0" err="1">
                <a:ea typeface="+mn-lt"/>
                <a:cs typeface="+mn-lt"/>
              </a:rPr>
              <a:t>guardrails</a:t>
            </a:r>
            <a:r>
              <a:rPr lang="pt-BR" sz="1400" dirty="0">
                <a:ea typeface="+mn-lt"/>
                <a:cs typeface="+mn-lt"/>
              </a:rPr>
              <a:t> são para sistemas distribuídos."</a:t>
            </a:r>
          </a:p>
          <a:p>
            <a:endParaRPr lang="pt-BR" sz="1400" dirty="0">
              <a:solidFill>
                <a:srgbClr val="0E0E0E"/>
              </a:solidFill>
            </a:endParaRPr>
          </a:p>
          <a:p>
            <a:endParaRPr lang="pt-BR" sz="1400" dirty="0"/>
          </a:p>
          <a:p>
            <a:endParaRPr lang="pt-BR" sz="140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D30DBEE-1CC5-B59F-56FE-D755E5B6C79E}"/>
              </a:ext>
            </a:extLst>
          </p:cNvPr>
          <p:cNvSpPr/>
          <p:nvPr/>
        </p:nvSpPr>
        <p:spPr>
          <a:xfrm>
            <a:off x="9123484" y="5133033"/>
            <a:ext cx="1955661" cy="8428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200" dirty="0"/>
              <a:t>São carregadas sempre ou sob demanda</a:t>
            </a:r>
          </a:p>
        </p:txBody>
      </p:sp>
    </p:spTree>
    <p:extLst>
      <p:ext uri="{BB962C8B-B14F-4D97-AF65-F5344CB8AC3E}">
        <p14:creationId xmlns:p14="http://schemas.microsoft.com/office/powerpoint/2010/main" val="51235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2DCE-496C-4CAB-E9E9-4B89365D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1863A-BAD0-D59B-661F-65041B42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CONCEITOS-CHAVE - </a:t>
            </a:r>
            <a:r>
              <a:rPr lang="pt-BR" dirty="0"/>
              <a:t>Skills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CA96FB-F3E0-398D-3A7B-E60C8DBA0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sz="1400" b="1" dirty="0">
                <a:ea typeface="+mn-lt"/>
                <a:cs typeface="+mn-lt"/>
              </a:rPr>
              <a:t>O que são?</a:t>
            </a:r>
            <a:endParaRPr lang="pt-BR" sz="1400"/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Skills são </a:t>
            </a:r>
            <a:r>
              <a:rPr lang="pt-BR" sz="1400" b="1" dirty="0">
                <a:ea typeface="+mn-lt"/>
                <a:cs typeface="+mn-lt"/>
              </a:rPr>
              <a:t>módulos reutilizáveis de instruções</a:t>
            </a:r>
            <a:r>
              <a:rPr lang="pt-BR" sz="1400" dirty="0">
                <a:ea typeface="+mn-lt"/>
                <a:cs typeface="+mn-lt"/>
              </a:rPr>
              <a:t> para tarefas específicas.</a:t>
            </a:r>
            <a:br>
              <a:rPr lang="en-US" dirty="0"/>
            </a:br>
            <a:endParaRPr lang="en-US" sz="1400"/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Elas descrevem:</a:t>
            </a:r>
            <a:endParaRPr lang="pt-BR" sz="1400"/>
          </a:p>
          <a:p>
            <a:pPr>
              <a:buFont typeface="Arial"/>
              <a:buChar char="•"/>
            </a:pPr>
            <a:r>
              <a:rPr lang="pt-BR" sz="1400" dirty="0">
                <a:ea typeface="+mn-lt"/>
                <a:cs typeface="+mn-lt"/>
              </a:rPr>
              <a:t>Objetivo da tarefa</a:t>
            </a:r>
            <a:endParaRPr lang="pt-BR" sz="1400"/>
          </a:p>
          <a:p>
            <a:pPr>
              <a:buFont typeface="Arial"/>
              <a:buChar char="•"/>
            </a:pPr>
            <a:r>
              <a:rPr lang="pt-BR" sz="1400" dirty="0">
                <a:ea typeface="+mn-lt"/>
                <a:cs typeface="+mn-lt"/>
              </a:rPr>
              <a:t>Entradas esperadas</a:t>
            </a:r>
          </a:p>
          <a:p>
            <a:pPr>
              <a:buFont typeface="Arial"/>
              <a:buChar char="•"/>
            </a:pPr>
            <a:r>
              <a:rPr lang="pt-BR" sz="1400" dirty="0">
                <a:ea typeface="+mn-lt"/>
                <a:cs typeface="+mn-lt"/>
              </a:rPr>
              <a:t>Passo a passo de execução</a:t>
            </a:r>
            <a:endParaRPr lang="pt-BR" sz="1400"/>
          </a:p>
          <a:p>
            <a:pPr>
              <a:buFont typeface="Arial"/>
              <a:buChar char="•"/>
            </a:pPr>
            <a:r>
              <a:rPr lang="pt-BR" sz="1400" dirty="0">
                <a:ea typeface="+mn-lt"/>
                <a:cs typeface="+mn-lt"/>
              </a:rPr>
              <a:t>Restrições e limites</a:t>
            </a:r>
            <a:br>
              <a:rPr lang="en-US" dirty="0"/>
            </a:br>
            <a:endParaRPr lang="en-US" sz="1400"/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👉 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Na prática, Skills transformam tarefas recorrentes em </a:t>
            </a:r>
            <a:r>
              <a:rPr lang="pt-BR" sz="1400" b="1" dirty="0">
                <a:solidFill>
                  <a:srgbClr val="0E0E0E"/>
                </a:solidFill>
                <a:ea typeface="+mn-lt"/>
                <a:cs typeface="+mn-lt"/>
              </a:rPr>
              <a:t>execuções padronizadas</a:t>
            </a:r>
            <a:r>
              <a:rPr lang="pt-BR" sz="1400" dirty="0">
                <a:ea typeface="+mn-lt"/>
                <a:cs typeface="+mn-lt"/>
              </a:rPr>
              <a:t> em tarefas recorrentes.</a:t>
            </a:r>
            <a:endParaRPr lang="pt-BR"/>
          </a:p>
          <a:p>
            <a:pPr>
              <a:buNone/>
            </a:pP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 “Skills são como </a:t>
            </a:r>
            <a:r>
              <a:rPr lang="pt-BR" sz="1400" b="1" dirty="0">
                <a:solidFill>
                  <a:srgbClr val="0E0E0E"/>
                </a:solidFill>
                <a:ea typeface="+mn-lt"/>
                <a:cs typeface="+mn-lt"/>
              </a:rPr>
              <a:t>funções bem definidas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 dentro de um </a:t>
            </a:r>
            <a:r>
              <a:rPr lang="pt-BR" sz="1400" dirty="0" err="1">
                <a:solidFill>
                  <a:srgbClr val="0E0E0E"/>
                </a:solidFill>
                <a:ea typeface="+mn-lt"/>
                <a:cs typeface="+mn-lt"/>
              </a:rPr>
              <a:t>agent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.”</a:t>
            </a:r>
            <a:endParaRPr lang="pt-BR" sz="1400" dirty="0"/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983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3DA5D-182B-25E7-E7E5-A495947E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CONCEITOS-CHAVE – </a:t>
            </a:r>
            <a:r>
              <a:rPr lang="pt-BR" sz="2800" dirty="0"/>
              <a:t>MCP (Model </a:t>
            </a:r>
            <a:r>
              <a:rPr lang="pt-BR" sz="2800" err="1"/>
              <a:t>Context</a:t>
            </a:r>
            <a:r>
              <a:rPr lang="pt-BR" sz="2800" dirty="0"/>
              <a:t> </a:t>
            </a:r>
            <a:r>
              <a:rPr lang="pt-BR" sz="2800" err="1"/>
              <a:t>Protocol</a:t>
            </a:r>
            <a:r>
              <a:rPr lang="pt-BR" sz="28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E41D8C-CB17-C809-B0B1-4E99A86A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 sz="1400" b="1" dirty="0">
                <a:ea typeface="+mn-lt"/>
                <a:cs typeface="+mn-lt"/>
              </a:rPr>
              <a:t>O que é?</a:t>
            </a:r>
            <a:endParaRPr lang="pt-BR" sz="1400"/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MCP é um </a:t>
            </a:r>
            <a:r>
              <a:rPr lang="pt-BR" sz="1400" b="1" dirty="0">
                <a:ea typeface="+mn-lt"/>
                <a:cs typeface="+mn-lt"/>
              </a:rPr>
              <a:t>protocolo aberto</a:t>
            </a:r>
            <a:r>
              <a:rPr lang="pt-BR" sz="1400" dirty="0">
                <a:ea typeface="+mn-lt"/>
                <a:cs typeface="+mn-lt"/>
              </a:rPr>
              <a:t> que padroniza como modelos de IA </a:t>
            </a:r>
            <a:r>
              <a:rPr lang="pt-BR" sz="1400" b="1" dirty="0">
                <a:ea typeface="+mn-lt"/>
                <a:cs typeface="+mn-lt"/>
              </a:rPr>
              <a:t>descobrem, acessam e utilizam ferramentas e dados externos</a:t>
            </a:r>
            <a:r>
              <a:rPr lang="pt-BR" sz="1400" dirty="0">
                <a:ea typeface="+mn-lt"/>
                <a:cs typeface="+mn-lt"/>
              </a:rPr>
              <a:t>, enriquecendo o contexto local de forma segura.</a:t>
            </a:r>
            <a:endParaRPr lang="en-US" sz="1400"/>
          </a:p>
          <a:p>
            <a:pPr>
              <a:buNone/>
            </a:pPr>
            <a:endParaRPr lang="pt-BR" sz="1400" dirty="0">
              <a:ea typeface="+mn-lt"/>
              <a:cs typeface="+mn-lt"/>
            </a:endParaRPr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Ele define:</a:t>
            </a:r>
            <a:endParaRPr lang="pt-BR" sz="1400">
              <a:ea typeface="+mn-lt"/>
              <a:cs typeface="+mn-lt"/>
            </a:endParaRPr>
          </a:p>
          <a:p>
            <a:pPr>
              <a:buFont typeface="Arial"/>
            </a:pPr>
            <a:r>
              <a:rPr lang="pt-BR" sz="1400" dirty="0">
                <a:ea typeface="+mn-lt"/>
                <a:cs typeface="+mn-lt"/>
              </a:rPr>
              <a:t>Um </a:t>
            </a:r>
            <a:r>
              <a:rPr lang="pt-BR" sz="1400" b="1" dirty="0">
                <a:ea typeface="+mn-lt"/>
                <a:cs typeface="+mn-lt"/>
              </a:rPr>
              <a:t>padrão aberto</a:t>
            </a:r>
            <a:r>
              <a:rPr lang="pt-BR" sz="1400" dirty="0">
                <a:ea typeface="+mn-lt"/>
                <a:cs typeface="+mn-lt"/>
              </a:rPr>
              <a:t> para conectar modelos de IA a ferramentas e dados</a:t>
            </a:r>
            <a:endParaRPr lang="pt-BR" sz="1400">
              <a:ea typeface="+mn-lt"/>
              <a:cs typeface="+mn-lt"/>
            </a:endParaRPr>
          </a:p>
          <a:p>
            <a:pPr>
              <a:buFont typeface="Arial"/>
            </a:pPr>
            <a:r>
              <a:rPr lang="pt-BR" sz="1400" dirty="0">
                <a:ea typeface="+mn-lt"/>
                <a:cs typeface="+mn-lt"/>
              </a:rPr>
              <a:t>Como o modelo </a:t>
            </a:r>
            <a:r>
              <a:rPr lang="pt-BR" sz="1400" b="1" dirty="0">
                <a:ea typeface="+mn-lt"/>
                <a:cs typeface="+mn-lt"/>
              </a:rPr>
              <a:t>descobre, chama e usa recursos</a:t>
            </a:r>
            <a:r>
              <a:rPr lang="pt-BR" sz="1400" dirty="0">
                <a:ea typeface="+mn-lt"/>
                <a:cs typeface="+mn-lt"/>
              </a:rPr>
              <a:t> de forma controlada</a:t>
            </a:r>
            <a:endParaRPr lang="en-US" sz="1400" dirty="0"/>
          </a:p>
          <a:p>
            <a:pPr>
              <a:buFont typeface="Arial"/>
            </a:pPr>
            <a:r>
              <a:rPr lang="pt-BR" sz="1400" dirty="0">
                <a:ea typeface="+mn-lt"/>
                <a:cs typeface="+mn-lt"/>
              </a:rPr>
              <a:t>Integrações consistentes entre </a:t>
            </a:r>
            <a:r>
              <a:rPr lang="pt-BR" sz="1400" b="1" dirty="0">
                <a:ea typeface="+mn-lt"/>
                <a:cs typeface="+mn-lt"/>
              </a:rPr>
              <a:t>apps, APIs e bases de dados</a:t>
            </a:r>
          </a:p>
          <a:p>
            <a:pPr marL="0" indent="0">
              <a:buNone/>
            </a:pPr>
            <a:endParaRPr lang="pt-BR" sz="1400" b="1" dirty="0">
              <a:ea typeface="+mn-lt"/>
              <a:cs typeface="+mn-lt"/>
            </a:endParaRPr>
          </a:p>
          <a:p>
            <a:pPr>
              <a:buNone/>
            </a:pPr>
            <a:r>
              <a:rPr lang="pt-BR" sz="1400" dirty="0">
                <a:solidFill>
                  <a:srgbClr val="000000"/>
                </a:solidFill>
                <a:ea typeface="+mn-lt"/>
                <a:cs typeface="+mn-lt"/>
              </a:rPr>
              <a:t>👉 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Na prática, o MCP facilita integrar modelos de IA com </a:t>
            </a:r>
            <a:r>
              <a:rPr lang="pt-BR" sz="1400" b="1" dirty="0">
                <a:solidFill>
                  <a:srgbClr val="0E0E0E"/>
                </a:solidFill>
                <a:ea typeface="+mn-lt"/>
                <a:cs typeface="+mn-lt"/>
              </a:rPr>
              <a:t>sistemas reais 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(CRM, bancos, repositórios, SaaS)</a:t>
            </a:r>
            <a:endParaRPr lang="pt-BR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 “MCP para IA é o que </a:t>
            </a:r>
            <a:r>
              <a:rPr lang="pt-BR" sz="1400" b="1" dirty="0">
                <a:solidFill>
                  <a:srgbClr val="0E0E0E"/>
                </a:solidFill>
                <a:ea typeface="+mn-lt"/>
                <a:cs typeface="+mn-lt"/>
              </a:rPr>
              <a:t>HTTP + APIs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 são para sistemas distribuídos.”</a:t>
            </a:r>
            <a:endParaRPr lang="pt-BR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pt-BR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86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AD59B-B213-DB07-5963-58F26BFE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CONCEITOS-CHAVE – </a:t>
            </a:r>
            <a:r>
              <a:rPr lang="pt-BR" dirty="0" err="1"/>
              <a:t>Agents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CEA42-DA56-31F9-9706-DB6183D0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pt-BR" sz="1400" b="1" dirty="0"/>
              <a:t>O que é?</a:t>
            </a:r>
            <a:endParaRPr lang="en-US" sz="140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Agent </a:t>
            </a:r>
            <a:r>
              <a:rPr lang="en-US" sz="1400" err="1">
                <a:ea typeface="+mn-lt"/>
                <a:cs typeface="+mn-lt"/>
              </a:rPr>
              <a:t>são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configurações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reutilizáveis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padronizam</a:t>
            </a:r>
            <a:r>
              <a:rPr lang="en-US" sz="1400" dirty="0">
                <a:ea typeface="+mn-lt"/>
                <a:cs typeface="+mn-lt"/>
              </a:rPr>
              <a:t> o </a:t>
            </a:r>
            <a:r>
              <a:rPr lang="en-US" sz="1400" err="1">
                <a:ea typeface="+mn-lt"/>
                <a:cs typeface="+mn-lt"/>
              </a:rPr>
              <a:t>comportamento</a:t>
            </a:r>
            <a:r>
              <a:rPr lang="en-US" sz="1400" dirty="0">
                <a:ea typeface="+mn-lt"/>
                <a:cs typeface="+mn-lt"/>
              </a:rPr>
              <a:t> da IA para o time.</a:t>
            </a:r>
          </a:p>
          <a:p>
            <a:pPr>
              <a:buNone/>
            </a:pPr>
            <a:endParaRPr lang="pt-BR" sz="1400" b="1" dirty="0"/>
          </a:p>
          <a:p>
            <a:pPr>
              <a:buNone/>
            </a:pPr>
            <a:r>
              <a:rPr lang="pt-BR" sz="1400" b="1" dirty="0"/>
              <a:t>Agente = Skill + Contexto + Objetivo</a:t>
            </a:r>
            <a:endParaRPr lang="en-US" sz="1400" dirty="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Eles </a:t>
            </a:r>
            <a:r>
              <a:rPr lang="en-US" sz="1400" dirty="0" err="1">
                <a:ea typeface="+mn-lt"/>
                <a:cs typeface="+mn-lt"/>
              </a:rPr>
              <a:t>combinam</a:t>
            </a:r>
            <a:r>
              <a:rPr lang="en-US" sz="1400" dirty="0">
                <a:ea typeface="+mn-lt"/>
                <a:cs typeface="+mn-lt"/>
              </a:rPr>
              <a:t>:</a:t>
            </a:r>
          </a:p>
          <a:p>
            <a:pPr>
              <a:buFont typeface="Arial"/>
            </a:pPr>
            <a:r>
              <a:rPr lang="en-US" sz="1400" b="1" dirty="0">
                <a:ea typeface="+mn-lt"/>
                <a:cs typeface="+mn-lt"/>
              </a:rPr>
              <a:t>Skills</a:t>
            </a:r>
            <a:r>
              <a:rPr lang="en-US" sz="1400" dirty="0">
                <a:ea typeface="+mn-lt"/>
                <a:cs typeface="+mn-lt"/>
              </a:rPr>
              <a:t> → </a:t>
            </a:r>
            <a:r>
              <a:rPr lang="en-US" sz="1400" err="1">
                <a:ea typeface="+mn-lt"/>
                <a:cs typeface="+mn-lt"/>
              </a:rPr>
              <a:t>como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executar</a:t>
            </a:r>
            <a:r>
              <a:rPr lang="en-US" sz="1400" dirty="0">
                <a:ea typeface="+mn-lt"/>
                <a:cs typeface="+mn-lt"/>
              </a:rPr>
              <a:t> a </a:t>
            </a:r>
            <a:r>
              <a:rPr lang="en-US" sz="1400" err="1">
                <a:ea typeface="+mn-lt"/>
                <a:cs typeface="+mn-lt"/>
              </a:rPr>
              <a:t>tarefa</a:t>
            </a:r>
            <a:endParaRPr lang="pt-BR" sz="1400"/>
          </a:p>
          <a:p>
            <a:pPr>
              <a:buFont typeface="Arial"/>
            </a:pPr>
            <a:r>
              <a:rPr lang="en-US" sz="1400" b="1" err="1">
                <a:ea typeface="+mn-lt"/>
                <a:cs typeface="+mn-lt"/>
              </a:rPr>
              <a:t>Contexto</a:t>
            </a:r>
            <a:r>
              <a:rPr lang="en-US" sz="1400" dirty="0">
                <a:ea typeface="+mn-lt"/>
                <a:cs typeface="+mn-lt"/>
              </a:rPr>
              <a:t> → </a:t>
            </a:r>
            <a:r>
              <a:rPr lang="en-US" sz="1400" err="1">
                <a:ea typeface="+mn-lt"/>
                <a:cs typeface="+mn-lt"/>
              </a:rPr>
              <a:t>código</a:t>
            </a:r>
            <a:r>
              <a:rPr lang="en-US" sz="1400" dirty="0">
                <a:ea typeface="+mn-lt"/>
                <a:cs typeface="+mn-lt"/>
              </a:rPr>
              <a:t>, dados, histórico</a:t>
            </a:r>
            <a:endParaRPr lang="pt-BR" sz="1400"/>
          </a:p>
          <a:p>
            <a:pPr>
              <a:buFont typeface="Arial"/>
            </a:pPr>
            <a:r>
              <a:rPr lang="en-US" sz="1400" b="1" err="1">
                <a:ea typeface="+mn-lt"/>
                <a:cs typeface="+mn-lt"/>
              </a:rPr>
              <a:t>Objetivo</a:t>
            </a:r>
            <a:r>
              <a:rPr lang="en-US" sz="1400" dirty="0">
                <a:ea typeface="+mn-lt"/>
                <a:cs typeface="+mn-lt"/>
              </a:rPr>
              <a:t> → o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precisa</a:t>
            </a:r>
            <a:r>
              <a:rPr lang="en-US" sz="1400" dirty="0">
                <a:ea typeface="+mn-lt"/>
                <a:cs typeface="+mn-lt"/>
              </a:rPr>
              <a:t> ser </a:t>
            </a:r>
            <a:r>
              <a:rPr lang="en-US" sz="1400" err="1">
                <a:ea typeface="+mn-lt"/>
                <a:cs typeface="+mn-lt"/>
              </a:rPr>
              <a:t>entregue</a:t>
            </a:r>
            <a:endParaRPr lang="pt-BR" sz="1400" dirty="0" err="1"/>
          </a:p>
          <a:p>
            <a:pPr marL="0" indent="0"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pt-BR" sz="1400" dirty="0">
                <a:ea typeface="+mn-lt"/>
                <a:cs typeface="+mn-lt"/>
              </a:rPr>
              <a:t>👉 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Na prática,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 err="1">
                <a:ea typeface="+mn-lt"/>
                <a:cs typeface="+mn-lt"/>
              </a:rPr>
              <a:t>agentes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evitam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pessoa</a:t>
            </a:r>
            <a:r>
              <a:rPr lang="en-US" sz="1400" dirty="0">
                <a:ea typeface="+mn-lt"/>
                <a:cs typeface="+mn-lt"/>
              </a:rPr>
              <a:t> use IA de um </a:t>
            </a:r>
            <a:r>
              <a:rPr lang="en-US" sz="1400" dirty="0" err="1">
                <a:ea typeface="+mn-lt"/>
                <a:cs typeface="+mn-lt"/>
              </a:rPr>
              <a:t>jeito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diferente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Eles </a:t>
            </a:r>
            <a:r>
              <a:rPr lang="en-US" sz="1400" dirty="0" err="1">
                <a:ea typeface="+mn-lt"/>
                <a:cs typeface="+mn-lt"/>
              </a:rPr>
              <a:t>transformam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>
                <a:ea typeface="+mn-lt"/>
                <a:cs typeface="+mn-lt"/>
              </a:rPr>
              <a:t>boas </a:t>
            </a:r>
            <a:r>
              <a:rPr lang="en-US" sz="1400" b="1" dirty="0" err="1">
                <a:ea typeface="+mn-lt"/>
                <a:cs typeface="+mn-lt"/>
              </a:rPr>
              <a:t>práticas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individuais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comportamento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padrão</a:t>
            </a:r>
            <a:r>
              <a:rPr lang="en-US" sz="1400" b="1" dirty="0">
                <a:ea typeface="+mn-lt"/>
                <a:cs typeface="+mn-lt"/>
              </a:rPr>
              <a:t> do time</a:t>
            </a:r>
            <a:r>
              <a:rPr lang="en-US" sz="1400" dirty="0">
                <a:ea typeface="+mn-lt"/>
                <a:cs typeface="+mn-lt"/>
              </a:rPr>
              <a:t>.</a:t>
            </a:r>
            <a:br>
              <a:rPr lang="en-US" sz="1400" dirty="0"/>
            </a:b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Menos </a:t>
            </a:r>
            <a:r>
              <a:rPr lang="en-US" sz="1400" dirty="0" err="1">
                <a:ea typeface="+mn-lt"/>
                <a:cs typeface="+mn-lt"/>
              </a:rPr>
              <a:t>improviso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Mais </a:t>
            </a:r>
            <a:r>
              <a:rPr lang="en-US" sz="1400" err="1">
                <a:ea typeface="+mn-lt"/>
                <a:cs typeface="+mn-lt"/>
              </a:rPr>
              <a:t>previsibilidade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Qualidade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escalável</a:t>
            </a:r>
            <a:endParaRPr lang="en-US" sz="1400"/>
          </a:p>
          <a:p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"Um </a:t>
            </a:r>
            <a:r>
              <a:rPr lang="en-US" sz="1200" dirty="0" err="1">
                <a:solidFill>
                  <a:srgbClr val="0E0E0E"/>
                </a:solidFill>
                <a:ea typeface="+mn-lt"/>
                <a:cs typeface="+mn-lt"/>
              </a:rPr>
              <a:t>agente</a:t>
            </a: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 é </a:t>
            </a:r>
            <a:r>
              <a:rPr lang="en-US" sz="1200" dirty="0" err="1">
                <a:solidFill>
                  <a:srgbClr val="0E0E0E"/>
                </a:solidFill>
                <a:ea typeface="+mn-lt"/>
                <a:cs typeface="+mn-lt"/>
              </a:rPr>
              <a:t>como</a:t>
            </a: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 um </a:t>
            </a:r>
            <a:r>
              <a:rPr lang="en-US" sz="1200" b="1" dirty="0" err="1">
                <a:solidFill>
                  <a:srgbClr val="0E0E0E"/>
                </a:solidFill>
                <a:ea typeface="+mn-lt"/>
                <a:cs typeface="+mn-lt"/>
              </a:rPr>
              <a:t>serviço</a:t>
            </a:r>
            <a:r>
              <a:rPr lang="en-US" sz="1200" b="1" dirty="0">
                <a:solidFill>
                  <a:srgbClr val="0E0E0E"/>
                </a:solidFill>
                <a:ea typeface="+mn-lt"/>
                <a:cs typeface="+mn-lt"/>
              </a:rPr>
              <a:t> com </a:t>
            </a:r>
            <a:r>
              <a:rPr lang="en-US" sz="1200" b="1" dirty="0" err="1">
                <a:solidFill>
                  <a:srgbClr val="0E0E0E"/>
                </a:solidFill>
                <a:ea typeface="+mn-lt"/>
                <a:cs typeface="+mn-lt"/>
              </a:rPr>
              <a:t>contrato</a:t>
            </a:r>
            <a:r>
              <a:rPr lang="en-US" sz="1200" b="1" dirty="0">
                <a:solidFill>
                  <a:srgbClr val="0E0E0E"/>
                </a:solidFill>
                <a:ea typeface="+mn-lt"/>
                <a:cs typeface="+mn-lt"/>
              </a:rPr>
              <a:t> claro</a:t>
            </a: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0E0E0E"/>
                </a:solidFill>
                <a:ea typeface="+mn-lt"/>
                <a:cs typeface="+mn-lt"/>
              </a:rPr>
              <a:t>não</a:t>
            </a: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 um script </a:t>
            </a:r>
            <a:r>
              <a:rPr lang="en-US" sz="1200" dirty="0" err="1">
                <a:solidFill>
                  <a:srgbClr val="0E0E0E"/>
                </a:solidFill>
                <a:ea typeface="+mn-lt"/>
                <a:cs typeface="+mn-lt"/>
              </a:rPr>
              <a:t>solto</a:t>
            </a:r>
            <a:r>
              <a:rPr lang="en-US" sz="1200" dirty="0">
                <a:solidFill>
                  <a:srgbClr val="0E0E0E"/>
                </a:solidFill>
                <a:ea typeface="+mn-lt"/>
                <a:cs typeface="+mn-lt"/>
              </a:rPr>
              <a:t>."</a:t>
            </a:r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17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BC67-8177-C386-5D0A-3FC8B82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D2237-6C7B-421B-3D5A-7B27BD39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CONCEITOS-CHAVE – </a:t>
            </a:r>
            <a:r>
              <a:rPr lang="pt-BR" dirty="0" err="1"/>
              <a:t>Subagents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4A8478-ED5E-E966-BFCC-823B0281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pt-BR" sz="1400" b="1" dirty="0">
                <a:ea typeface="+mn-lt"/>
                <a:cs typeface="+mn-lt"/>
              </a:rPr>
              <a:t>O que é?</a:t>
            </a:r>
            <a:endParaRPr lang="pt-BR" sz="1400">
              <a:ea typeface="+mn-lt"/>
              <a:cs typeface="+mn-lt"/>
            </a:endParaRP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Subagents </a:t>
            </a:r>
            <a:r>
              <a:rPr lang="en-US" sz="1400" dirty="0" err="1">
                <a:ea typeface="+mn-lt"/>
                <a:cs typeface="+mn-lt"/>
              </a:rPr>
              <a:t>permitem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decompor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problemas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complexos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análises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especializadas</a:t>
            </a:r>
            <a:r>
              <a:rPr lang="en-US" sz="1400" b="1" dirty="0">
                <a:ea typeface="+mn-lt"/>
                <a:cs typeface="+mn-lt"/>
              </a:rPr>
              <a:t> e </a:t>
            </a:r>
            <a:r>
              <a:rPr lang="en-US" sz="1400" b="1" dirty="0" err="1">
                <a:ea typeface="+mn-lt"/>
                <a:cs typeface="+mn-lt"/>
              </a:rPr>
              <a:t>independentes</a:t>
            </a:r>
            <a:r>
              <a:rPr lang="en-US" sz="1400" dirty="0">
                <a:ea typeface="+mn-lt"/>
                <a:cs typeface="+mn-lt"/>
              </a:rPr>
              <a:t>.</a:t>
            </a: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Eles </a:t>
            </a:r>
            <a:r>
              <a:rPr lang="en-US" sz="1400" dirty="0" err="1">
                <a:ea typeface="+mn-lt"/>
                <a:cs typeface="+mn-lt"/>
              </a:rPr>
              <a:t>ajudam</a:t>
            </a:r>
            <a:r>
              <a:rPr lang="en-US" sz="1400" dirty="0">
                <a:ea typeface="+mn-lt"/>
                <a:cs typeface="+mn-lt"/>
              </a:rPr>
              <a:t> a:</a:t>
            </a:r>
            <a:endParaRPr lang="pt-BR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Reduzir</a:t>
            </a:r>
            <a:r>
              <a:rPr lang="en-US" sz="1400" dirty="0">
                <a:ea typeface="+mn-lt"/>
                <a:cs typeface="+mn-lt"/>
              </a:rPr>
              <a:t> carga </a:t>
            </a:r>
            <a:r>
              <a:rPr lang="en-US" sz="1400" err="1">
                <a:ea typeface="+mn-lt"/>
                <a:cs typeface="+mn-lt"/>
              </a:rPr>
              <a:t>cognitiva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Aumentar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profundidade</a:t>
            </a:r>
            <a:r>
              <a:rPr lang="en-US" sz="1400" dirty="0">
                <a:ea typeface="+mn-lt"/>
                <a:cs typeface="+mn-lt"/>
              </a:rPr>
              <a:t> da </a:t>
            </a:r>
            <a:r>
              <a:rPr lang="en-US" sz="1400" err="1">
                <a:ea typeface="+mn-lt"/>
                <a:cs typeface="+mn-lt"/>
              </a:rPr>
              <a:t>análise</a:t>
            </a:r>
            <a:endParaRPr lang="pt-BR" sz="1400"/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Manter </a:t>
            </a:r>
            <a:r>
              <a:rPr lang="en-US" sz="1400" err="1">
                <a:ea typeface="+mn-lt"/>
                <a:cs typeface="+mn-lt"/>
              </a:rPr>
              <a:t>foco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responsabilidade</a:t>
            </a:r>
            <a:endParaRPr lang="en-US" sz="1400"/>
          </a:p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 dirty="0" err="1"/>
              <a:t>Exemplo</a:t>
            </a:r>
            <a:r>
              <a:rPr lang="en-US" sz="1400" b="1" dirty="0"/>
              <a:t> de </a:t>
            </a:r>
            <a:r>
              <a:rPr lang="en-US" sz="1400" b="1" dirty="0" err="1"/>
              <a:t>estrutura</a:t>
            </a:r>
            <a:endParaRPr lang="en-US" sz="1400" dirty="0" err="1"/>
          </a:p>
          <a:p>
            <a:pPr>
              <a:buFont typeface="Arial"/>
              <a:buChar char="•"/>
            </a:pPr>
            <a:r>
              <a:rPr lang="en-US" sz="1400" b="1" err="1">
                <a:ea typeface="+mn-lt"/>
                <a:cs typeface="+mn-lt"/>
              </a:rPr>
              <a:t>Agente</a:t>
            </a:r>
            <a:r>
              <a:rPr lang="en-US" sz="1400" b="1" dirty="0">
                <a:ea typeface="+mn-lt"/>
                <a:cs typeface="+mn-lt"/>
              </a:rPr>
              <a:t> principal:</a:t>
            </a:r>
            <a:r>
              <a:rPr lang="en-US" sz="1400" dirty="0">
                <a:ea typeface="+mn-lt"/>
                <a:cs typeface="+mn-lt"/>
              </a:rPr>
              <a:t> Code Review</a:t>
            </a:r>
            <a:endParaRPr lang="en-US" sz="1400" dirty="0"/>
          </a:p>
          <a:p>
            <a:pPr lvl="1">
              <a:buFont typeface="Courier New"/>
              <a:buChar char="o"/>
            </a:pPr>
            <a:r>
              <a:rPr lang="en-US" sz="1400" dirty="0">
                <a:ea typeface="+mn-lt"/>
                <a:cs typeface="+mn-lt"/>
              </a:rPr>
              <a:t>Subagent de </a:t>
            </a:r>
            <a:r>
              <a:rPr lang="en-US" sz="1400" b="1" dirty="0" err="1">
                <a:ea typeface="+mn-lt"/>
                <a:cs typeface="+mn-lt"/>
              </a:rPr>
              <a:t>Arquitetura</a:t>
            </a:r>
            <a:endParaRPr lang="en-US" sz="1400" dirty="0"/>
          </a:p>
          <a:p>
            <a:pPr lvl="1">
              <a:buFont typeface="Courier New"/>
              <a:buChar char="o"/>
            </a:pPr>
            <a:r>
              <a:rPr lang="en-US" sz="1400" dirty="0">
                <a:ea typeface="+mn-lt"/>
                <a:cs typeface="+mn-lt"/>
              </a:rPr>
              <a:t>Subagent de </a:t>
            </a:r>
            <a:r>
              <a:rPr lang="en-US" sz="1400" b="1" dirty="0">
                <a:ea typeface="+mn-lt"/>
                <a:cs typeface="+mn-lt"/>
              </a:rPr>
              <a:t>Performance</a:t>
            </a:r>
            <a:endParaRPr lang="en-US" sz="1400"/>
          </a:p>
          <a:p>
            <a:pPr lvl="1">
              <a:buFont typeface="Courier New"/>
              <a:buChar char="o"/>
            </a:pPr>
            <a:r>
              <a:rPr lang="en-US" sz="1400" dirty="0">
                <a:ea typeface="+mn-lt"/>
                <a:cs typeface="+mn-lt"/>
              </a:rPr>
              <a:t>Subagent de </a:t>
            </a:r>
            <a:r>
              <a:rPr lang="en-US" sz="1400" b="1" dirty="0" err="1">
                <a:ea typeface="+mn-lt"/>
                <a:cs typeface="+mn-lt"/>
              </a:rPr>
              <a:t>Segurança</a:t>
            </a:r>
            <a:endParaRPr lang="en-US" sz="1400"/>
          </a:p>
          <a:p>
            <a:pPr lvl="1">
              <a:buFont typeface="Courier New"/>
              <a:buChar char="o"/>
            </a:pPr>
            <a:r>
              <a:rPr lang="en-US" sz="1400" dirty="0">
                <a:ea typeface="+mn-lt"/>
                <a:cs typeface="+mn-lt"/>
              </a:rPr>
              <a:t>Subagent de </a:t>
            </a:r>
            <a:r>
              <a:rPr lang="en-US" sz="1400" b="1" dirty="0" err="1">
                <a:ea typeface="+mn-lt"/>
                <a:cs typeface="+mn-lt"/>
              </a:rPr>
              <a:t>Legibilidade</a:t>
            </a:r>
            <a:endParaRPr lang="en-US" sz="1400" dirty="0"/>
          </a:p>
          <a:p>
            <a:pPr>
              <a:buFont typeface="Arial"/>
              <a:buChar char="•"/>
            </a:pPr>
            <a:endParaRPr lang="en-US" sz="1400" b="1" dirty="0"/>
          </a:p>
          <a:p>
            <a:pPr marL="0" indent="0">
              <a:buNone/>
            </a:pPr>
            <a:r>
              <a:rPr lang="pt-BR" sz="1400" dirty="0">
                <a:ea typeface="+mn-lt"/>
                <a:cs typeface="+mn-lt"/>
              </a:rPr>
              <a:t>👉 </a:t>
            </a:r>
            <a:r>
              <a:rPr lang="pt-BR" sz="1400" dirty="0">
                <a:solidFill>
                  <a:srgbClr val="0E0E0E"/>
                </a:solidFill>
                <a:ea typeface="+mn-lt"/>
                <a:cs typeface="+mn-lt"/>
              </a:rPr>
              <a:t>Na prática,</a:t>
            </a:r>
            <a:r>
              <a:rPr lang="en-US" sz="1400" dirty="0">
                <a:ea typeface="+mn-lt"/>
                <a:cs typeface="+mn-lt"/>
              </a:rPr>
              <a:t> Subagent </a:t>
            </a:r>
            <a:r>
              <a:rPr lang="en-US" sz="1400" dirty="0" err="1">
                <a:ea typeface="+mn-lt"/>
                <a:cs typeface="+mn-lt"/>
              </a:rPr>
              <a:t>evitam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análises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superficiais</a:t>
            </a:r>
            <a:r>
              <a:rPr lang="en-US" sz="1400" dirty="0">
                <a:ea typeface="+mn-lt"/>
                <a:cs typeface="+mn-lt"/>
              </a:rPr>
              <a:t>. </a:t>
            </a:r>
            <a:endParaRPr lang="en-US" sz="1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dirty="0">
                <a:ea typeface="+mn-lt"/>
                <a:cs typeface="+mn-lt"/>
              </a:rPr>
              <a:t>Cada subagent </a:t>
            </a:r>
            <a:r>
              <a:rPr lang="en-US" sz="1400" dirty="0" err="1">
                <a:ea typeface="+mn-lt"/>
                <a:cs typeface="+mn-lt"/>
              </a:rPr>
              <a:t>avalia</a:t>
            </a:r>
            <a:r>
              <a:rPr lang="en-US" sz="1400" dirty="0">
                <a:ea typeface="+mn-lt"/>
                <a:cs typeface="+mn-lt"/>
              </a:rPr>
              <a:t> o </a:t>
            </a:r>
            <a:r>
              <a:rPr lang="en-US" sz="1400" dirty="0" err="1">
                <a:ea typeface="+mn-lt"/>
                <a:cs typeface="+mn-lt"/>
              </a:rPr>
              <a:t>código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>
                <a:ea typeface="+mn-lt"/>
                <a:cs typeface="+mn-lt"/>
              </a:rPr>
              <a:t>sob um </a:t>
            </a:r>
            <a:r>
              <a:rPr lang="en-US" sz="1400" b="1" dirty="0" err="1">
                <a:ea typeface="+mn-lt"/>
                <a:cs typeface="+mn-lt"/>
              </a:rPr>
              <a:t>único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b="1" dirty="0" err="1">
                <a:ea typeface="+mn-lt"/>
                <a:cs typeface="+mn-lt"/>
              </a:rPr>
              <a:t>ponto</a:t>
            </a:r>
            <a:r>
              <a:rPr lang="en-US" sz="1400" b="1" dirty="0">
                <a:ea typeface="+mn-lt"/>
                <a:cs typeface="+mn-lt"/>
              </a:rPr>
              <a:t> de vista</a:t>
            </a:r>
            <a:r>
              <a:rPr lang="en-US" sz="1400" dirty="0">
                <a:ea typeface="+mn-lt"/>
                <a:cs typeface="+mn-lt"/>
              </a:rPr>
              <a:t>, e o </a:t>
            </a:r>
            <a:r>
              <a:rPr lang="en-US" sz="1400" dirty="0" err="1">
                <a:ea typeface="+mn-lt"/>
                <a:cs typeface="+mn-lt"/>
              </a:rPr>
              <a:t>agente</a:t>
            </a:r>
            <a:r>
              <a:rPr lang="en-US" sz="1400" dirty="0">
                <a:ea typeface="+mn-lt"/>
                <a:cs typeface="+mn-lt"/>
              </a:rPr>
              <a:t> principal </a:t>
            </a:r>
            <a:r>
              <a:rPr lang="en-US" sz="1400" dirty="0" err="1">
                <a:ea typeface="+mn-lt"/>
                <a:cs typeface="+mn-lt"/>
              </a:rPr>
              <a:t>consolida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resultados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b="1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Mais </a:t>
            </a:r>
            <a:r>
              <a:rPr lang="en-US" sz="1400" err="1">
                <a:ea typeface="+mn-lt"/>
                <a:cs typeface="+mn-lt"/>
              </a:rPr>
              <a:t>profundidade</a:t>
            </a:r>
            <a:endParaRPr lang="en-US" sz="140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Menos </a:t>
            </a:r>
            <a:r>
              <a:rPr lang="en-US" sz="1400" dirty="0" err="1">
                <a:ea typeface="+mn-lt"/>
                <a:cs typeface="+mn-lt"/>
              </a:rPr>
              <a:t>ruído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Feedback </a:t>
            </a:r>
            <a:r>
              <a:rPr lang="en-US" sz="1400" err="1">
                <a:ea typeface="+mn-lt"/>
                <a:cs typeface="+mn-lt"/>
              </a:rPr>
              <a:t>mais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acionável</a:t>
            </a:r>
            <a:endParaRPr lang="en-US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1800" b="1" dirty="0"/>
          </a:p>
          <a:p>
            <a:pPr>
              <a:buFont typeface="Arial"/>
              <a:buChar char="•"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ACCE-F2D5-D9CA-CC71-3160A2AF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BCABE-363E-8FDE-1B36-957EA301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Fluxo de Uso no Dia a 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7BDC2-1E83-F3B6-313D-3FEB2A43D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800" err="1">
                <a:ea typeface="+mn-lt"/>
                <a:cs typeface="+mn-lt"/>
              </a:rPr>
              <a:t>Fluxo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recomendado</a:t>
            </a:r>
            <a:r>
              <a:rPr lang="en-US" sz="1800">
                <a:ea typeface="+mn-lt"/>
                <a:cs typeface="+mn-lt"/>
              </a:rPr>
              <a:t> para </a:t>
            </a:r>
            <a:r>
              <a:rPr lang="en-US" sz="1800" err="1">
                <a:ea typeface="+mn-lt"/>
                <a:cs typeface="+mn-lt"/>
              </a:rPr>
              <a:t>uso</a:t>
            </a:r>
            <a:r>
              <a:rPr lang="en-US" sz="1800">
                <a:ea typeface="+mn-lt"/>
                <a:cs typeface="+mn-lt"/>
              </a:rPr>
              <a:t> do </a:t>
            </a:r>
            <a:r>
              <a:rPr lang="en-US" sz="1800" err="1">
                <a:ea typeface="+mn-lt"/>
                <a:cs typeface="+mn-lt"/>
              </a:rPr>
              <a:t>OpenCode</a:t>
            </a:r>
            <a:r>
              <a:rPr lang="en-US" sz="1800">
                <a:ea typeface="+mn-lt"/>
                <a:cs typeface="+mn-lt"/>
              </a:rPr>
              <a:t>:</a:t>
            </a:r>
            <a:endParaRPr lang="pt-BR" sz="1800">
              <a:ea typeface="+mn-lt"/>
              <a:cs typeface="+mn-lt"/>
            </a:endParaRPr>
          </a:p>
          <a:p>
            <a:pPr>
              <a:buNone/>
            </a:pPr>
            <a:br>
              <a:rPr lang="en-US" sz="1800">
                <a:ea typeface="+mn-lt"/>
                <a:cs typeface="+mn-lt"/>
              </a:rPr>
            </a:br>
            <a:endParaRPr lang="en-US" sz="180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1. </a:t>
            </a:r>
            <a:r>
              <a:rPr lang="en-US" sz="1800" err="1">
                <a:ea typeface="+mn-lt"/>
                <a:cs typeface="+mn-lt"/>
              </a:rPr>
              <a:t>Abrir</a:t>
            </a:r>
            <a:r>
              <a:rPr lang="en-US" sz="1800">
                <a:ea typeface="+mn-lt"/>
                <a:cs typeface="+mn-lt"/>
              </a:rPr>
              <a:t> o </a:t>
            </a:r>
            <a:r>
              <a:rPr lang="en-US" sz="1800" err="1">
                <a:ea typeface="+mn-lt"/>
                <a:cs typeface="+mn-lt"/>
              </a:rPr>
              <a:t>repositório</a:t>
            </a:r>
            <a:r>
              <a:rPr lang="en-US" sz="1800">
                <a:ea typeface="+mn-lt"/>
                <a:cs typeface="+mn-lt"/>
              </a:rPr>
              <a:t> local</a:t>
            </a:r>
            <a:endParaRPr lang="pt-BR" sz="180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2. </a:t>
            </a:r>
            <a:r>
              <a:rPr lang="en-US" sz="1800" err="1">
                <a:ea typeface="+mn-lt"/>
                <a:cs typeface="+mn-lt"/>
              </a:rPr>
              <a:t>Iniciar</a:t>
            </a:r>
            <a:r>
              <a:rPr lang="en-US" sz="1800">
                <a:ea typeface="+mn-lt"/>
                <a:cs typeface="+mn-lt"/>
              </a:rPr>
              <a:t> o </a:t>
            </a:r>
            <a:r>
              <a:rPr lang="en-US" sz="1800" err="1">
                <a:ea typeface="+mn-lt"/>
                <a:cs typeface="+mn-lt"/>
              </a:rPr>
              <a:t>OpenCode</a:t>
            </a:r>
            <a:endParaRPr lang="en-US" sz="180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3. </a:t>
            </a:r>
            <a:r>
              <a:rPr lang="en-US" sz="1800" err="1">
                <a:ea typeface="+mn-lt"/>
                <a:cs typeface="+mn-lt"/>
              </a:rPr>
              <a:t>Selecionar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configurar</a:t>
            </a:r>
            <a:r>
              <a:rPr lang="en-US" sz="1800">
                <a:ea typeface="+mn-lt"/>
                <a:cs typeface="+mn-lt"/>
              </a:rPr>
              <a:t> o </a:t>
            </a:r>
            <a:r>
              <a:rPr lang="en-US" sz="1800" err="1">
                <a:ea typeface="+mn-lt"/>
                <a:cs typeface="+mn-lt"/>
              </a:rPr>
              <a:t>agente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adequado</a:t>
            </a:r>
            <a:endParaRPr lang="pt-BR" sz="1800" err="1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4. </a:t>
            </a:r>
            <a:r>
              <a:rPr lang="en-US" sz="1800" err="1">
                <a:ea typeface="+mn-lt"/>
                <a:cs typeface="+mn-lt"/>
              </a:rPr>
              <a:t>Referenciar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arquivos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ou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linhas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específicas</a:t>
            </a:r>
            <a:endParaRPr lang="pt-BR" sz="1800" err="1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5. </a:t>
            </a:r>
            <a:r>
              <a:rPr lang="en-US" sz="1800" err="1">
                <a:ea typeface="+mn-lt"/>
                <a:cs typeface="+mn-lt"/>
              </a:rPr>
              <a:t>Interagir</a:t>
            </a:r>
            <a:r>
              <a:rPr lang="en-US" sz="1800">
                <a:ea typeface="+mn-lt"/>
                <a:cs typeface="+mn-lt"/>
              </a:rPr>
              <a:t> com a IA de forma </a:t>
            </a:r>
            <a:r>
              <a:rPr lang="en-US" sz="1800" err="1">
                <a:ea typeface="+mn-lt"/>
                <a:cs typeface="+mn-lt"/>
              </a:rPr>
              <a:t>iterativa</a:t>
            </a:r>
            <a:endParaRPr lang="pt-BR" sz="1800" err="1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6. </a:t>
            </a:r>
            <a:r>
              <a:rPr lang="en-US" sz="1800" err="1">
                <a:ea typeface="+mn-lt"/>
                <a:cs typeface="+mn-lt"/>
              </a:rPr>
              <a:t>Avaliar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criticamente</a:t>
            </a:r>
            <a:r>
              <a:rPr lang="en-US" sz="1800">
                <a:ea typeface="+mn-lt"/>
                <a:cs typeface="+mn-lt"/>
              </a:rPr>
              <a:t> as </a:t>
            </a:r>
            <a:r>
              <a:rPr lang="en-US" sz="1800" err="1">
                <a:ea typeface="+mn-lt"/>
                <a:cs typeface="+mn-lt"/>
              </a:rPr>
              <a:t>sugestões</a:t>
            </a:r>
            <a:endParaRPr lang="en-US" sz="180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7. Validar </a:t>
            </a:r>
            <a:r>
              <a:rPr lang="en-US" sz="1800" err="1">
                <a:ea typeface="+mn-lt"/>
                <a:cs typeface="+mn-lt"/>
              </a:rPr>
              <a:t>alterações</a:t>
            </a:r>
            <a:r>
              <a:rPr lang="en-US" sz="1800">
                <a:ea typeface="+mn-lt"/>
                <a:cs typeface="+mn-lt"/>
              </a:rPr>
              <a:t> com testes e </a:t>
            </a:r>
            <a:r>
              <a:rPr lang="en-US" sz="1800" err="1">
                <a:ea typeface="+mn-lt"/>
                <a:cs typeface="+mn-lt"/>
              </a:rPr>
              <a:t>revisão</a:t>
            </a:r>
            <a:r>
              <a:rPr lang="en-US" sz="1800">
                <a:ea typeface="+mn-lt"/>
                <a:cs typeface="+mn-lt"/>
              </a:rPr>
              <a:t> humana</a:t>
            </a:r>
            <a:endParaRPr lang="pt-BR" sz="1800">
              <a:ea typeface="+mn-lt"/>
              <a:cs typeface="+mn-lt"/>
            </a:endParaRPr>
          </a:p>
          <a:p>
            <a:pPr>
              <a:buNone/>
            </a:pPr>
            <a:br>
              <a:rPr lang="en-US" sz="1800">
                <a:ea typeface="+mn-lt"/>
                <a:cs typeface="+mn-lt"/>
              </a:rPr>
            </a:br>
            <a:endParaRPr lang="en-US" sz="180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A IA </a:t>
            </a:r>
            <a:r>
              <a:rPr lang="en-US" sz="1800" err="1">
                <a:ea typeface="+mn-lt"/>
                <a:cs typeface="+mn-lt"/>
              </a:rPr>
              <a:t>deve</a:t>
            </a:r>
            <a:r>
              <a:rPr lang="en-US" sz="1800">
                <a:ea typeface="+mn-lt"/>
                <a:cs typeface="+mn-lt"/>
              </a:rPr>
              <a:t> ser </a:t>
            </a:r>
            <a:r>
              <a:rPr lang="en-US" sz="1800" err="1">
                <a:ea typeface="+mn-lt"/>
                <a:cs typeface="+mn-lt"/>
              </a:rPr>
              <a:t>utilizada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apoio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contínuo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não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como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execução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automática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>
              <a:buNone/>
            </a:pPr>
            <a:endParaRPr lang="en-US" sz="1800">
              <a:ea typeface="+mn-lt"/>
              <a:cs typeface="+mn-lt"/>
            </a:endParaRPr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1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20FF-BDF9-C559-70A1-5FF5A25B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237A6-577E-0756-6BD8-7B9CF262D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/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2886978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9E84-D4AE-819A-F761-BEE3C55C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97FE5-A588-9F42-C6F2-682B21FE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Referencias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77E6D5-3A11-AA93-AB41-6633C1BE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2"/>
              </a:rPr>
              <a:t>https://opencode.ai/docs</a:t>
            </a:r>
            <a:endParaRPr lang="pt-BR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3"/>
              </a:rPr>
              <a:t>https://github.com/vtirabassi/ai-agents-guidelines</a:t>
            </a:r>
            <a:br>
              <a:rPr lang="en-US" sz="1800" dirty="0">
                <a:ea typeface="+mn-lt"/>
                <a:cs typeface="+mn-lt"/>
              </a:rPr>
            </a:b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Skills: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4"/>
              </a:rPr>
              <a:t>https://blog.devgenius.io/writing-opencode-agent-skills-a-practical-guide-with-examples</a:t>
            </a:r>
            <a:endParaRPr lang="en-US"/>
          </a:p>
          <a:p>
            <a:pPr>
              <a:buNone/>
            </a:pP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5"/>
              </a:rPr>
              <a:t>https://www.youtube.com/watch?v=e9j2iEwJru0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6"/>
              </a:rPr>
              <a:t>https://www.youtube.com/watch?v=sqp0rtjKCrw</a:t>
            </a:r>
            <a:endParaRPr lang="en-US" sz="1800" dirty="0"/>
          </a:p>
          <a:p>
            <a:pPr>
              <a:buNone/>
            </a:pPr>
            <a:r>
              <a:rPr lang="en-US" sz="1800" dirty="0">
                <a:ea typeface="+mn-lt"/>
                <a:cs typeface="+mn-lt"/>
                <a:hlinkClick r:id="rId7"/>
              </a:rPr>
              <a:t>https://www.youtube.com/watch?v=omkEi4GTCj8</a:t>
            </a:r>
            <a:endParaRPr lang="en-US"/>
          </a:p>
          <a:p>
            <a:pPr>
              <a:buNone/>
            </a:pPr>
            <a:endParaRPr lang="en-US" sz="1800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740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Por que falar de IA agora?</vt:lpstr>
      <vt:lpstr>IA como amplificador, não substituto</vt:lpstr>
      <vt:lpstr>Casos reais de uso em engenharia</vt:lpstr>
      <vt:lpstr>Por que OpenCode?</vt:lpstr>
      <vt:lpstr>CONCEITOS-CHAVE - Rules (Regras)</vt:lpstr>
      <vt:lpstr>CONCEITOS-CHAVE - Skills</vt:lpstr>
      <vt:lpstr>CONCEITOS-CHAVE – MCP (Model Context Protocol)</vt:lpstr>
      <vt:lpstr>CONCEITOS-CHAVE – Agents</vt:lpstr>
      <vt:lpstr>CONCEITOS-CHAVE – Subagents</vt:lpstr>
      <vt:lpstr>Fluxo de Uso no Dia a Dia</vt:lpstr>
      <vt:lpstr>Hands-on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219</cp:revision>
  <dcterms:created xsi:type="dcterms:W3CDTF">2026-02-05T16:12:52Z</dcterms:created>
  <dcterms:modified xsi:type="dcterms:W3CDTF">2026-02-12T00:32:16Z</dcterms:modified>
</cp:coreProperties>
</file>